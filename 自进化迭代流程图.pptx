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474720" y="1234440"/>
            <a:ext cx="8183879" cy="6720840"/>
          </a:xfrm>
          <a:prstGeom prst="rect">
            <a:avLst/>
          </a:prstGeom>
          <a:noFill/>
          <a:ln w="1778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/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3657600" y="9875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自进化迭代循环</a:t>
            </a:r>
          </a:p>
        </p:txBody>
      </p:sp>
      <p:sp>
        <p:nvSpPr>
          <p:cNvPr id="4" name="Terminator 3"/>
          <p:cNvSpPr/>
          <p:nvPr/>
        </p:nvSpPr>
        <p:spPr>
          <a:xfrm>
            <a:off x="365760" y="502920"/>
            <a:ext cx="1188720" cy="502920"/>
          </a:xfrm>
          <a:prstGeom prst="flowChartTerminator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/>
            </a:pPr>
            <a:r>
              <a:t>开始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11480"/>
            <a:ext cx="2468880" cy="713232"/>
          </a:xfrm>
          <a:prstGeom prst="roundRect">
            <a:avLst/>
          </a:prstGeom>
          <a:solidFill>
            <a:srgbClr val="E1F5FE"/>
          </a:solidFill>
          <a:ln w="2286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/>
            </a:pPr>
            <a:r>
              <a:t>初始化:</a:t>
            </a:r>
            <a:br/>
            <a:r>
              <a:t>目标程序 + 初始Harness + 空存档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554480"/>
            <a:ext cx="2286000" cy="713232"/>
          </a:xfrm>
          <a:prstGeom prst="roundRect">
            <a:avLst/>
          </a:prstGeom>
          <a:solidFill>
            <a:srgbClr val="F3E5F5"/>
          </a:solidFill>
          <a:ln w="22860">
            <a:solidFill>
              <a:srgbClr val="7B1FA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/>
            </a:pPr>
            <a:r>
              <a:t>1. 提议阶段</a:t>
            </a:r>
            <a:br/>
            <a:r>
              <a:t>（提议器 LLM）</a:t>
            </a:r>
            <a:br/>
            <a:r>
              <a:t>读取诊断报告与历史存档</a:t>
            </a:r>
          </a:p>
        </p:txBody>
      </p:sp>
      <p:sp>
        <p:nvSpPr>
          <p:cNvPr id="7" name="Diamond 6"/>
          <p:cNvSpPr/>
          <p:nvPr/>
        </p:nvSpPr>
        <p:spPr>
          <a:xfrm>
            <a:off x="5486400" y="2514600"/>
            <a:ext cx="2468880" cy="960120"/>
          </a:xfrm>
          <a:prstGeom prst="diamond">
            <a:avLst/>
          </a:prstGeom>
          <a:solidFill>
            <a:srgbClr val="FFF9C4"/>
          </a:solidFill>
          <a:ln w="2286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t>2. 静态验证</a:t>
            </a:r>
            <a:br/>
            <a:r>
              <a:t>（DSL类型检查）</a:t>
            </a:r>
            <a:br/>
            <a:r>
              <a:t>结构是否良好？</a:t>
            </a:r>
            <a:br/>
            <a:r>
              <a:t>（节点可达/变量绑定/图连通）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651760"/>
            <a:ext cx="1417320" cy="713232"/>
          </a:xfrm>
          <a:prstGeom prst="roundRect">
            <a:avLst/>
          </a:prstGeom>
          <a:solidFill>
            <a:srgbClr val="E1F5FE"/>
          </a:solidFill>
          <a:ln w="2286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/>
            </a:pPr>
            <a:r>
              <a:t>拒绝该方案</a:t>
            </a:r>
            <a:br/>
            <a:r>
              <a:t>（最多重试2次）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3703320"/>
            <a:ext cx="2286000" cy="749808"/>
          </a:xfrm>
          <a:prstGeom prst="roundRect">
            <a:avLst/>
          </a:prstGeom>
          <a:solidFill>
            <a:srgbClr val="E1F5FE"/>
          </a:solidFill>
          <a:ln w="2286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/>
            </a:pPr>
            <a:r>
              <a:t>3. 执行与观测</a:t>
            </a:r>
            <a:br/>
            <a:r>
              <a:t>在全部任务集上运行Harness</a:t>
            </a:r>
            <a:br/>
            <a:r>
              <a:t>收集每个智能体的动作轨迹</a:t>
            </a:r>
          </a:p>
        </p:txBody>
      </p:sp>
      <p:sp>
        <p:nvSpPr>
          <p:cNvPr id="10" name="Data 9"/>
          <p:cNvSpPr/>
          <p:nvPr/>
        </p:nvSpPr>
        <p:spPr>
          <a:xfrm>
            <a:off x="5486400" y="4636008"/>
            <a:ext cx="2468880" cy="841248"/>
          </a:xfrm>
          <a:prstGeom prst="flowChartInputOutput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t>4. 结构化反馈收集</a:t>
            </a:r>
            <a:br/>
            <a:r>
              <a:t>（4种运行时信号）</a:t>
            </a:r>
            <a:br/>
            <a:r>
              <a:t>①测试结果 ②程序输出</a:t>
            </a:r>
            <a:br/>
            <a:r>
              <a:t>③代码覆盖率 ④Sanitizer报告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5669280"/>
            <a:ext cx="2286000" cy="749808"/>
          </a:xfrm>
          <a:prstGeom prst="roundRect">
            <a:avLst/>
          </a:prstGeom>
          <a:solidFill>
            <a:srgbClr val="E1F5FE"/>
          </a:solidFill>
          <a:ln w="2286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/>
            </a:pPr>
            <a:r>
              <a:t>5. 评分与更新</a:t>
            </a:r>
            <a:br/>
            <a:r>
              <a:t>计算通过率/漏洞数</a:t>
            </a:r>
            <a:br/>
            <a:r>
              <a:t>若优于当前最优 -&gt; 更新最优Harness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6583680"/>
            <a:ext cx="2286000" cy="804672"/>
          </a:xfrm>
          <a:prstGeom prst="roundRect">
            <a:avLst/>
          </a:prstGeom>
          <a:solidFill>
            <a:srgbClr val="F3E5F5"/>
          </a:solidFill>
          <a:ln w="22860">
            <a:solidFill>
              <a:srgbClr val="7B1FA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t>6. 诊断阶段</a:t>
            </a:r>
            <a:br/>
            <a:r>
              <a:t>（诊断器 LLM）</a:t>
            </a:r>
            <a:br/>
            <a:r>
              <a:t>定位瓶颈智能体</a:t>
            </a:r>
            <a:br/>
            <a:r>
              <a:t>分析意图与执行的差距</a:t>
            </a:r>
            <a:br/>
            <a:r>
              <a:t>生成具体的修改指令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77840" y="7543800"/>
            <a:ext cx="2286000" cy="713232"/>
          </a:xfrm>
          <a:prstGeom prst="roundRect">
            <a:avLst/>
          </a:prstGeom>
          <a:solidFill>
            <a:srgbClr val="E1F5FE"/>
          </a:solidFill>
          <a:ln w="2286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t>7. 更新历史存档</a:t>
            </a:r>
            <a:br/>
            <a:r>
              <a:t>存储本轮数据:</a:t>
            </a:r>
            <a:br/>
            <a:r>
              <a:t>Harness方案 + 反馈信号 + 诊断结果</a:t>
            </a:r>
          </a:p>
        </p:txBody>
      </p:sp>
      <p:sp>
        <p:nvSpPr>
          <p:cNvPr id="14" name="Diamond 13"/>
          <p:cNvSpPr/>
          <p:nvPr/>
        </p:nvSpPr>
        <p:spPr>
          <a:xfrm>
            <a:off x="8595360" y="7452360"/>
            <a:ext cx="2011680" cy="914400"/>
          </a:xfrm>
          <a:prstGeom prst="diamond">
            <a:avLst/>
          </a:prstGeom>
          <a:solidFill>
            <a:srgbClr val="FFF9C4"/>
          </a:solidFill>
          <a:ln w="2286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/>
            </a:pPr>
            <a:r>
              <a:t>预算是否耗尽？</a:t>
            </a:r>
          </a:p>
        </p:txBody>
      </p:sp>
      <p:sp>
        <p:nvSpPr>
          <p:cNvPr id="15" name="Terminator 14"/>
          <p:cNvSpPr/>
          <p:nvPr/>
        </p:nvSpPr>
        <p:spPr>
          <a:xfrm>
            <a:off x="10698480" y="7543800"/>
            <a:ext cx="1371600" cy="749808"/>
          </a:xfrm>
          <a:prstGeom prst="flowChartTerminator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0"/>
            </a:pPr>
            <a:r>
              <a:t>输出最优Harness</a:t>
            </a:r>
            <a:br/>
            <a:r>
              <a:t>及发现的漏洞/PoC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6720840"/>
            <a:ext cx="3063240" cy="1097280"/>
          </a:xfrm>
          <a:prstGeom prst="roundRect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/>
            </a:pPr>
            <a:r>
              <a:t>Harness五元组:</a:t>
            </a:r>
            <a:br/>
            <a:r>
              <a:t>A代理 / G拓扑</a:t>
            </a:r>
            <a:br/>
            <a:r>
              <a:t>Σ模板 / Φ工具 / Ψ协议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754380"/>
            <a:ext cx="274320" cy="13716"/>
          </a:xfrm>
          <a:prstGeom prst="line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97680" y="768096"/>
            <a:ext cx="1280160" cy="1143000"/>
          </a:xfrm>
          <a:prstGeom prst="line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720840" y="2267712"/>
            <a:ext cx="0" cy="246888"/>
          </a:xfrm>
          <a:prstGeom prst="line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720840" y="3474720"/>
            <a:ext cx="0" cy="228600"/>
          </a:xfrm>
          <a:prstGeom prst="line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20840" y="4453128"/>
            <a:ext cx="0" cy="182880"/>
          </a:xfrm>
          <a:prstGeom prst="line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720840" y="5477256"/>
            <a:ext cx="0" cy="192024"/>
          </a:xfrm>
          <a:prstGeom prst="line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20840" y="6419088"/>
            <a:ext cx="0" cy="164592"/>
          </a:xfrm>
          <a:prstGeom prst="line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720840" y="7388352"/>
            <a:ext cx="0" cy="155448"/>
          </a:xfrm>
          <a:prstGeom prst="line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5166359" y="2994660"/>
            <a:ext cx="320041" cy="13716"/>
          </a:xfrm>
          <a:prstGeom prst="bentConnector3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480560" y="2331720"/>
            <a:ext cx="868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格式错误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166359" y="1911096"/>
            <a:ext cx="411481" cy="740664"/>
          </a:xfrm>
          <a:prstGeom prst="bentConnector3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98079" y="3273552"/>
            <a:ext cx="914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格式正确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63840" y="7900416"/>
            <a:ext cx="731520" cy="9144"/>
          </a:xfrm>
          <a:prstGeom prst="line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7863840" y="1554480"/>
            <a:ext cx="731520" cy="6355080"/>
          </a:xfrm>
          <a:prstGeom prst="bentConnector3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321040" y="3840480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否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607040" y="7909560"/>
            <a:ext cx="91440" cy="9144"/>
          </a:xfrm>
          <a:prstGeom prst="line">
            <a:avLst/>
          </a:prstGeom>
          <a:ln w="2032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0332720" y="7726679"/>
            <a:ext cx="457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是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4892040" y="1911096"/>
            <a:ext cx="685800" cy="5358384"/>
          </a:xfrm>
          <a:prstGeom prst="line">
            <a:avLst/>
          </a:prstGeom>
          <a:ln w="17780">
            <a:solidFill>
              <a:srgbClr val="66666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11880" y="6144768"/>
            <a:ext cx="1965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编辑范围覆盖全部五维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