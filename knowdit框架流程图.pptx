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Knowdit 框架流程图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基于论文：Knowdit: Agentic Smart Contract Vulnerability Detection</a:t>
            </a:r>
          </a:p>
          <a:p>
            <a:r>
              <a:t>with Auditing Knowledge Summarization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</a:defRPr>
            </a:pPr>
            <a:r>
              <a:t>Knowdit 总体流程：知识图谱构建 + Agentic 漏洞审计闭环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828800" cy="731520"/>
          </a:xfrm>
          <a:prstGeom prst="roundRect">
            <a:avLst/>
          </a:prstGeom>
          <a:solidFill>
            <a:srgbClr val="E6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输入数据</a:t>
            </a:r>
          </a:p>
          <a:p>
            <a:pPr>
              <a:defRPr sz="1100"/>
            </a:pPr>
            <a:r>
              <a:t>历史项目代码</a:t>
            </a:r>
          </a:p>
          <a:p>
            <a:pPr>
              <a:defRPr sz="1100"/>
            </a:pPr>
            <a:r>
              <a:t>+ 审计报告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731520"/>
            <a:ext cx="1920240" cy="731520"/>
          </a:xfrm>
          <a:prstGeom prst="roundRect">
            <a:avLst/>
          </a:prstGeom>
          <a:solidFill>
            <a:srgbClr val="DCE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阶段 I</a:t>
            </a:r>
          </a:p>
          <a:p>
            <a:pPr>
              <a:defRPr sz="1100"/>
            </a:pPr>
            <a:r>
              <a:t>DeFi 语义提取/去重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645920"/>
            <a:ext cx="1920240" cy="731520"/>
          </a:xfrm>
          <a:prstGeom prst="roundRect">
            <a:avLst/>
          </a:prstGeom>
          <a:solidFill>
            <a:srgbClr val="DCE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阶段 II</a:t>
            </a:r>
          </a:p>
          <a:p>
            <a:pPr>
              <a:defRPr sz="1100"/>
            </a:pPr>
            <a:r>
              <a:t>漏洞模式提取/去重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560320"/>
            <a:ext cx="1920240" cy="731520"/>
          </a:xfrm>
          <a:prstGeom prst="roundRect">
            <a:avLst/>
          </a:prstGeom>
          <a:solidFill>
            <a:srgbClr val="DCE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阶段 III</a:t>
            </a:r>
          </a:p>
          <a:p>
            <a:pPr>
              <a:defRPr sz="1100"/>
            </a:pPr>
            <a:r>
              <a:t>语义-模式因果链接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1828800" cy="1097280"/>
          </a:xfrm>
          <a:prstGeom prst="round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审计知识图谱 G</a:t>
            </a:r>
          </a:p>
          <a:p>
            <a:pPr>
              <a:defRPr sz="1100"/>
            </a:pPr>
            <a:r>
              <a:t>DeFi Space +</a:t>
            </a:r>
          </a:p>
          <a:p>
            <a:pPr>
              <a:defRPr sz="1100"/>
            </a:pPr>
            <a:r>
              <a:t>Vulnerability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822960"/>
            <a:ext cx="1554480" cy="640080"/>
          </a:xfrm>
          <a:prstGeom prst="roundRect">
            <a:avLst/>
          </a:prstGeom>
          <a:solidFill>
            <a:srgbClr val="E6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新项目</a:t>
            </a:r>
          </a:p>
          <a:p>
            <a:pPr>
              <a:defRPr sz="1100"/>
            </a:pPr>
            <a:r>
              <a:t>Solidity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822960"/>
            <a:ext cx="1737360" cy="640080"/>
          </a:xfrm>
          <a:prstGeom prst="round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Knowledge</a:t>
            </a:r>
          </a:p>
          <a:p>
            <a:pPr>
              <a:defRPr sz="1100"/>
            </a:pPr>
            <a:r>
              <a:t>Mapper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1554480" cy="640080"/>
          </a:xfrm>
          <a:prstGeom prst="round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Specification</a:t>
            </a:r>
          </a:p>
          <a:p>
            <a:pPr>
              <a:defRPr sz="1100"/>
            </a:pPr>
            <a:r>
              <a:t>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1737360" cy="640080"/>
          </a:xfrm>
          <a:prstGeom prst="round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Harness</a:t>
            </a:r>
          </a:p>
          <a:p>
            <a:pPr>
              <a:defRPr sz="1100"/>
            </a:pPr>
            <a:r>
              <a:t>Synthesizer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834640"/>
            <a:ext cx="1554480" cy="640080"/>
          </a:xfrm>
          <a:prstGeom prst="round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Fuzz</a:t>
            </a:r>
          </a:p>
          <a:p>
            <a:pPr>
              <a:defRPr sz="1100"/>
            </a:pPr>
            <a:r>
              <a:t>Executor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834640"/>
            <a:ext cx="1737360" cy="640080"/>
          </a:xfrm>
          <a:prstGeom prst="round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Finding</a:t>
            </a:r>
          </a:p>
          <a:p>
            <a:pPr>
              <a:defRPr sz="1100"/>
            </a:pPr>
            <a:r>
              <a:t>Reflector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794760"/>
            <a:ext cx="1554480" cy="594360"/>
          </a:xfrm>
          <a:prstGeom prst="roundRect">
            <a:avLst/>
          </a:prstGeom>
          <a:solidFill>
            <a:srgbClr val="FF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执行失败/编译错</a:t>
            </a:r>
          </a:p>
          <a:p>
            <a:pPr>
              <a:defRPr sz="1100"/>
            </a:pPr>
            <a:r>
              <a:t>→ 返工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794760"/>
            <a:ext cx="1737360" cy="594360"/>
          </a:xfrm>
          <a:prstGeom prst="roundRect">
            <a:avLst/>
          </a:prstGeom>
          <a:solidFill>
            <a:srgbClr val="E2E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确认漏洞</a:t>
            </a:r>
          </a:p>
          <a:p>
            <a:pPr>
              <a:defRPr sz="1100"/>
            </a:pPr>
            <a:r>
              <a:t>报告并回写 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663440"/>
            <a:ext cx="4114800" cy="68580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共享 Working Memory：覆盖率、执行轨迹、违规反馈、修复历史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103120" y="1097280"/>
            <a:ext cx="274320" cy="914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03120" y="1188720"/>
            <a:ext cx="274320" cy="8229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03120" y="1188720"/>
            <a:ext cx="274320" cy="17373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97680" y="1097280"/>
            <a:ext cx="274320" cy="73152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97680" y="2011680"/>
            <a:ext cx="27432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297680" y="2194560"/>
            <a:ext cx="274320" cy="73152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400800" y="1143000"/>
            <a:ext cx="2011680" cy="8686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29600" y="1143000"/>
            <a:ext cx="18288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675120" y="1143000"/>
            <a:ext cx="3474720" cy="10058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29600" y="2148840"/>
            <a:ext cx="18288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675120" y="2148840"/>
            <a:ext cx="3474720" cy="10058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3154680"/>
            <a:ext cx="18288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52360" y="3474720"/>
            <a:ext cx="0" cy="3200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81160" y="3474720"/>
            <a:ext cx="0" cy="3200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452360" y="2468880"/>
            <a:ext cx="1828800" cy="13258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452360" y="2468880"/>
            <a:ext cx="1828800" cy="13258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486400" y="2560320"/>
            <a:ext cx="3794760" cy="182880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52360" y="3474720"/>
            <a:ext cx="0" cy="118872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81160" y="3474720"/>
            <a:ext cx="0" cy="118872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7452360" y="2468880"/>
            <a:ext cx="1691640" cy="21945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9281160" y="2468880"/>
            <a:ext cx="411480" cy="21945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539496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迭代策略：若执行失败→重建 Harness；若规范有问题→重生 Specification；若确认漏洞→输出报告并将新知识增量写入图谱 G。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