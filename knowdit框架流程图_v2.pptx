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rPr sz="2400">
                <a:solidFill>
                  <a:srgbClr val="000000"/>
                </a:solidFill>
              </a:rPr>
              <a:t>Knowdit 框架流程图（清晰箭头版）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黑色字体 + 显式箭头形状 + 编号流程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rPr sz="2200">
                <a:solidFill>
                  <a:srgbClr val="000000"/>
                </a:solidFill>
              </a:rPr>
              <a:t>Knowdit：知识图谱构建与 Agentic 审计闭环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1554480" cy="7315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输入A</a:t>
            </a:r>
            <a:br/>
            <a:r>
              <a:rPr sz="1200">
                <a:solidFill>
                  <a:srgbClr val="000000"/>
                </a:solidFill>
              </a:rPr>
              <a:t>历史项目</a:t>
            </a:r>
            <a:br/>
            <a:r>
              <a:rPr sz="1200">
                <a:solidFill>
                  <a:srgbClr val="000000"/>
                </a:solidFill>
              </a:rPr>
              <a:t>+审计报告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74519" y="1097280"/>
            <a:ext cx="502920" cy="310896"/>
          </a:xfrm>
          <a:prstGeom prst="righ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2377440" y="868680"/>
            <a:ext cx="1783080" cy="7315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阶段 I</a:t>
            </a:r>
            <a:br/>
            <a:r>
              <a:rPr sz="1200">
                <a:solidFill>
                  <a:srgbClr val="000000"/>
                </a:solidFill>
              </a:rPr>
              <a:t>DeFi语义</a:t>
            </a:r>
            <a:br/>
            <a:r>
              <a:rPr sz="1200">
                <a:solidFill>
                  <a:srgbClr val="000000"/>
                </a:solidFill>
              </a:rPr>
              <a:t>提取/去重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24528" y="1097280"/>
            <a:ext cx="502920" cy="310896"/>
          </a:xfrm>
          <a:prstGeom prst="righ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709160" y="868680"/>
            <a:ext cx="1783080" cy="7315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阶段 II</a:t>
            </a:r>
            <a:br/>
            <a:r>
              <a:rPr sz="1200">
                <a:solidFill>
                  <a:srgbClr val="000000"/>
                </a:solidFill>
              </a:rPr>
              <a:t>漏洞模式</a:t>
            </a:r>
            <a:br/>
            <a:r>
              <a:rPr sz="1200">
                <a:solidFill>
                  <a:srgbClr val="000000"/>
                </a:solidFill>
              </a:rPr>
              <a:t>提取/去重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565392" y="1097280"/>
            <a:ext cx="502920" cy="310896"/>
          </a:xfrm>
          <a:prstGeom prst="righ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7059168" y="868680"/>
            <a:ext cx="1783080" cy="7315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阶段 III</a:t>
            </a:r>
            <a:br/>
            <a:r>
              <a:rPr sz="1200">
                <a:solidFill>
                  <a:srgbClr val="000000"/>
                </a:solidFill>
              </a:rPr>
              <a:t>语义-模式</a:t>
            </a:r>
            <a:br/>
            <a:r>
              <a:rPr sz="1200">
                <a:solidFill>
                  <a:srgbClr val="000000"/>
                </a:solidFill>
              </a:rPr>
              <a:t>因果链接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33688" y="1097280"/>
            <a:ext cx="502920" cy="310896"/>
          </a:xfrm>
          <a:prstGeom prst="righ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9464040" y="868680"/>
            <a:ext cx="2377440" cy="7315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审计知识图谱 G</a:t>
            </a:r>
            <a:br/>
            <a:r>
              <a:rPr sz="1200">
                <a:solidFill>
                  <a:srgbClr val="000000"/>
                </a:solidFill>
              </a:rPr>
              <a:t>DeFi Space + Vulnerability Space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148840"/>
            <a:ext cx="1554480" cy="7315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输入B</a:t>
            </a:r>
            <a:br/>
            <a:r>
              <a:rPr sz="1200">
                <a:solidFill>
                  <a:srgbClr val="000000"/>
                </a:solidFill>
              </a:rPr>
              <a:t>新项目</a:t>
            </a:r>
            <a:br/>
            <a:r>
              <a:rPr sz="1200">
                <a:solidFill>
                  <a:srgbClr val="000000"/>
                </a:solidFill>
              </a:rPr>
              <a:t>Solidity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874519" y="2377440"/>
            <a:ext cx="502920" cy="310896"/>
          </a:xfrm>
          <a:prstGeom prst="righ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2377440" y="2148840"/>
            <a:ext cx="1783080" cy="7315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1) Knowledge</a:t>
            </a:r>
            <a:br/>
            <a:r>
              <a:rPr sz="1200">
                <a:solidFill>
                  <a:srgbClr val="000000"/>
                </a:solidFill>
              </a:rPr>
              <a:t>Mapper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224528" y="2377440"/>
            <a:ext cx="502920" cy="310896"/>
          </a:xfrm>
          <a:prstGeom prst="righ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709160" y="2148840"/>
            <a:ext cx="1783080" cy="7315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2) Specification</a:t>
            </a:r>
            <a:br/>
            <a:r>
              <a:rPr sz="1200">
                <a:solidFill>
                  <a:srgbClr val="000000"/>
                </a:solidFill>
              </a:rPr>
              <a:t>Generator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565392" y="2377440"/>
            <a:ext cx="502920" cy="310896"/>
          </a:xfrm>
          <a:prstGeom prst="righ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7059168" y="2148840"/>
            <a:ext cx="1783080" cy="7315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3) Harness</a:t>
            </a:r>
            <a:br/>
            <a:r>
              <a:rPr sz="1200">
                <a:solidFill>
                  <a:srgbClr val="000000"/>
                </a:solidFill>
              </a:rPr>
              <a:t>Synthesizer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33688" y="2377440"/>
            <a:ext cx="502920" cy="310896"/>
          </a:xfrm>
          <a:prstGeom prst="righ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9464040" y="2148840"/>
            <a:ext cx="1097280" cy="7315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4) Fuzz</a:t>
            </a:r>
            <a:br/>
            <a:r>
              <a:rPr sz="1200">
                <a:solidFill>
                  <a:srgbClr val="000000"/>
                </a:solidFill>
              </a:rPr>
              <a:t>Executor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625328" y="2377440"/>
            <a:ext cx="411480" cy="310896"/>
          </a:xfrm>
          <a:prstGeom prst="righ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11064240" y="2148840"/>
            <a:ext cx="777240" cy="7315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5)</a:t>
            </a:r>
            <a:br/>
            <a:r>
              <a:rPr sz="1200">
                <a:solidFill>
                  <a:srgbClr val="000000"/>
                </a:solidFill>
              </a:rPr>
              <a:t>Finding</a:t>
            </a:r>
            <a:br/>
            <a:r>
              <a:rPr sz="1200">
                <a:solidFill>
                  <a:srgbClr val="000000"/>
                </a:solidFill>
              </a:rPr>
              <a:t>Reflector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1673352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rPr sz="1000">
                <a:solidFill>
                  <a:srgbClr val="000000"/>
                </a:solidFill>
              </a:rPr>
              <a:t>图谱支撑检索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0149840" y="1627632"/>
            <a:ext cx="310896" cy="457200"/>
          </a:xfrm>
          <a:prstGeom prst="down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8641080" y="3429000"/>
            <a:ext cx="1783080" cy="658368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执行失败/规范问题</a:t>
            </a:r>
            <a:br/>
            <a:r>
              <a:rPr sz="1200">
                <a:solidFill>
                  <a:srgbClr val="000000"/>
                </a:solidFill>
              </a:rPr>
              <a:t>返工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07040" y="3429000"/>
            <a:ext cx="1234440" cy="658368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确认漏洞</a:t>
            </a:r>
            <a:br/>
            <a:r>
              <a:rPr sz="1200">
                <a:solidFill>
                  <a:srgbClr val="000000"/>
                </a:solidFill>
              </a:rPr>
              <a:t>报告+回写G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857232" y="2880360"/>
            <a:ext cx="310896" cy="475488"/>
          </a:xfrm>
          <a:prstGeom prst="down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8" name="Down Arrow 27"/>
          <p:cNvSpPr/>
          <p:nvPr/>
        </p:nvSpPr>
        <p:spPr>
          <a:xfrm>
            <a:off x="11292840" y="2880360"/>
            <a:ext cx="310896" cy="475488"/>
          </a:xfrm>
          <a:prstGeom prst="down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9" name="Left Arrow 28"/>
          <p:cNvSpPr/>
          <p:nvPr/>
        </p:nvSpPr>
        <p:spPr>
          <a:xfrm>
            <a:off x="8001000" y="3657600"/>
            <a:ext cx="566928" cy="292608"/>
          </a:xfrm>
          <a:prstGeom prst="lef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6995160" y="3657600"/>
            <a:ext cx="960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rPr sz="1000">
                <a:solidFill>
                  <a:srgbClr val="000000"/>
                </a:solidFill>
              </a:rPr>
              <a:t>回到2)</a:t>
            </a:r>
          </a:p>
        </p:txBody>
      </p:sp>
      <p:sp>
        <p:nvSpPr>
          <p:cNvPr id="31" name="Down Arrow 30"/>
          <p:cNvSpPr/>
          <p:nvPr/>
        </p:nvSpPr>
        <p:spPr>
          <a:xfrm rot="10800000">
            <a:off x="11137392" y="2697480"/>
            <a:ext cx="310896" cy="658368"/>
          </a:xfrm>
          <a:prstGeom prst="down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2" name="Rounded Rectangle 31"/>
          <p:cNvSpPr/>
          <p:nvPr/>
        </p:nvSpPr>
        <p:spPr>
          <a:xfrm>
            <a:off x="2377440" y="4572000"/>
            <a:ext cx="9464040" cy="7772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</a:rPr>
              <a:t>共享 Working Memory：覆盖率、执行轨迹、违规反馈、修复历史（驱动下一轮调度）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9857232" y="4160520"/>
            <a:ext cx="292608" cy="411480"/>
          </a:xfrm>
          <a:prstGeom prst="down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4" name="Down Arrow 33"/>
          <p:cNvSpPr/>
          <p:nvPr/>
        </p:nvSpPr>
        <p:spPr>
          <a:xfrm>
            <a:off x="11292840" y="4160520"/>
            <a:ext cx="292608" cy="411480"/>
          </a:xfrm>
          <a:prstGeom prst="down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5" name="Left Arrow 34"/>
          <p:cNvSpPr/>
          <p:nvPr/>
        </p:nvSpPr>
        <p:spPr>
          <a:xfrm>
            <a:off x="4754880" y="4370832"/>
            <a:ext cx="548640" cy="256032"/>
          </a:xfrm>
          <a:prstGeom prst="lef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6" name="Left Arrow 35"/>
          <p:cNvSpPr/>
          <p:nvPr/>
        </p:nvSpPr>
        <p:spPr>
          <a:xfrm>
            <a:off x="5897880" y="4370832"/>
            <a:ext cx="548640" cy="256032"/>
          </a:xfrm>
          <a:prstGeom prst="leftArrow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3657600" y="43434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rPr sz="1000">
                <a:solidFill>
                  <a:srgbClr val="000000"/>
                </a:solidFill>
              </a:rPr>
              <a:t>反馈到1)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43434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rPr sz="1000">
                <a:solidFill>
                  <a:srgbClr val="000000"/>
                </a:solidFill>
              </a:rPr>
              <a:t>反馈到2)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4343400"/>
            <a:ext cx="2011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rPr sz="1100">
                <a:solidFill>
                  <a:srgbClr val="000000"/>
                </a:solidFill>
              </a:rPr>
              <a:t>图例</a:t>
            </a:r>
          </a:p>
          <a:p>
            <a:pPr>
              <a:defRPr sz="1100" b="0">
                <a:solidFill>
                  <a:srgbClr val="000000"/>
                </a:solidFill>
              </a:defRPr>
            </a:pPr>
            <a:r>
              <a:rPr sz="1100">
                <a:solidFill>
                  <a:srgbClr val="000000"/>
                </a:solidFill>
              </a:rPr>
              <a:t>箭头形状=方向</a:t>
            </a:r>
          </a:p>
          <a:p>
            <a:pPr>
              <a:defRPr sz="1100" b="0">
                <a:solidFill>
                  <a:srgbClr val="000000"/>
                </a:solidFill>
              </a:defRPr>
            </a:pPr>
            <a:r>
              <a:rPr sz="1100">
                <a:solidFill>
                  <a:srgbClr val="000000"/>
                </a:solidFill>
              </a:rPr>
              <a:t>编号=执行顺序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