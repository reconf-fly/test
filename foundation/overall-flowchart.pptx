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1408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84" b="1"/>
              <a:t>总流程图：审计知识图谱驱动的规格生成与迭代验证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历史审计报告与源码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DeFi语义提取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28600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漏洞模式提取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55448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去重/抽象/分类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68880" y="228600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去重/抽象/分类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554480"/>
            <a:ext cx="146304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语义子图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2286000"/>
            <a:ext cx="146304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漏洞子图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1920240"/>
            <a:ext cx="164592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LLM因果链接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164592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审计知识图谱G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237744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链接置信度评分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365760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新Solidity项目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657600"/>
            <a:ext cx="210312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Knowledge Mapper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0" y="3657600"/>
            <a:ext cx="2926080" cy="77724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归一化加权排序器</a:t>
            </a:r>
            <a:br/>
            <a:r>
              <a:t>(借鉴PropertyGPT多维评分)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24160" y="3749039"/>
            <a:ext cx="201168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Top-K语义-漏洞对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60" y="4572000"/>
            <a:ext cx="201168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规格生成器 Spec Generator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5394960"/>
            <a:ext cx="2011680" cy="77724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候选规格重排</a:t>
            </a:r>
            <a:br/>
            <a:r>
              <a:t>(可编译性+相似度评分)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24160" y="6400800"/>
            <a:ext cx="201168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Harness合成器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6400800"/>
            <a:ext cx="2286000" cy="77724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Fuzz/执行器</a:t>
            </a:r>
            <a:br/>
            <a:r>
              <a:t>(Foundry + Coverage + Sanitizer)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6400800"/>
            <a:ext cx="2286000" cy="77724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反思器 Reflector</a:t>
            </a:r>
            <a:br/>
            <a:r>
              <a:t>有效性判定+失败归因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6400800"/>
            <a:ext cx="2560320" cy="82296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工作记忆 Working Memory</a:t>
            </a:r>
            <a:br/>
            <a:r>
              <a:t>覆盖率/trace/状态变化/失败原因</a:t>
            </a:r>
          </a:p>
        </p:txBody>
      </p:sp>
      <p:sp>
        <p:nvSpPr>
          <p:cNvPr id="23" name="Diamond 22"/>
          <p:cNvSpPr/>
          <p:nvPr/>
        </p:nvSpPr>
        <p:spPr>
          <a:xfrm>
            <a:off x="2468880" y="5394960"/>
            <a:ext cx="1645920" cy="777240"/>
          </a:xfrm>
          <a:prstGeom prst="diamond">
            <a:avLst/>
          </a:prstGeom>
          <a:solidFill>
            <a:srgbClr val="FFF2CC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触发迭代?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394960"/>
            <a:ext cx="192024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下一个语义-漏洞对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4480560"/>
            <a:ext cx="2103120" cy="77724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Propose: 重写Harness DSL</a:t>
            </a:r>
            <a:br/>
            <a:r>
              <a:t>A/G/Sigma/Phi/Psi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3657600"/>
            <a:ext cx="2103120" cy="77724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静态验证</a:t>
            </a:r>
            <a:br/>
            <a:r>
              <a:t>格式/变量绑定/图连通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448056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Execute &amp; Observe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51760" y="384048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Score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51760" y="320040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Diagnose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51760" y="2377440"/>
            <a:ext cx="1828800" cy="77724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更新历史档案</a:t>
            </a:r>
            <a:br/>
            <a:r>
              <a:t>避免重复试错</a:t>
            </a:r>
          </a:p>
        </p:txBody>
      </p:sp>
      <p:sp>
        <p:nvSpPr>
          <p:cNvPr id="31" name="Diamond 30"/>
          <p:cNvSpPr/>
          <p:nvPr/>
        </p:nvSpPr>
        <p:spPr>
          <a:xfrm>
            <a:off x="5120640" y="5120640"/>
            <a:ext cx="1828800" cy="777240"/>
          </a:xfrm>
          <a:prstGeom prst="diamond">
            <a:avLst/>
          </a:prstGeom>
          <a:solidFill>
            <a:srgbClr val="FFF2CC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是否真实漏洞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120640" y="420624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报告漏洞+PoC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23760" y="420624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回灌知识图谱G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120640" y="6126480"/>
            <a:ext cx="1828800" cy="502920"/>
          </a:xfrm>
          <a:prstGeom prst="roundRect">
            <a:avLst/>
          </a:prstGeom>
          <a:solidFill>
            <a:srgbClr val="EBF4FF"/>
          </a:solidFill>
          <a:ln w="9144">
            <a:solidFill>
              <a:srgbClr val="2B57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64"/>
              <a:t>记录并丢弃/保留为反例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88720" y="1074420"/>
            <a:ext cx="0" cy="73152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1188720" y="1074420"/>
            <a:ext cx="0" cy="146304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188720" y="1805940"/>
            <a:ext cx="2194560" cy="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88720" y="2537460"/>
            <a:ext cx="2194560" cy="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383280" y="1805940"/>
            <a:ext cx="2011680" cy="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383280" y="2537460"/>
            <a:ext cx="2011680" cy="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394960" y="1805940"/>
            <a:ext cx="1920240" cy="3657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394960" y="2171700"/>
            <a:ext cx="1920240" cy="3657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7315200" y="1897380"/>
            <a:ext cx="2103120" cy="27432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7315200" y="2171700"/>
            <a:ext cx="2103120" cy="45720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188720" y="3909060"/>
            <a:ext cx="4526280" cy="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5715000" y="1897380"/>
            <a:ext cx="3703320" cy="201168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H="1">
            <a:off x="5715000" y="2628900"/>
            <a:ext cx="3703320" cy="12801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5715000" y="3909060"/>
            <a:ext cx="2880360" cy="1371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595360" y="4000499"/>
            <a:ext cx="2834640" cy="45721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1430000" y="4000499"/>
            <a:ext cx="0" cy="822961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1430000" y="4823460"/>
            <a:ext cx="0" cy="96012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1430000" y="5783580"/>
            <a:ext cx="0" cy="86868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8915400" y="6652260"/>
            <a:ext cx="2514600" cy="1371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H="1">
            <a:off x="6263640" y="6789420"/>
            <a:ext cx="2651760" cy="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3474720" y="6789420"/>
            <a:ext cx="2788920" cy="228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3291840" y="5783580"/>
            <a:ext cx="182880" cy="102870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 flipV="1">
            <a:off x="1234440" y="5646420"/>
            <a:ext cx="2057400" cy="1371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2263140" y="571500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8" b="1"/>
              <a:t>否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234440" y="4823460"/>
            <a:ext cx="10195560" cy="8229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 flipV="1">
            <a:off x="1325880" y="4869180"/>
            <a:ext cx="1965960" cy="91440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2308860" y="53263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8" b="1"/>
              <a:t>是</a:t>
            </a:r>
          </a:p>
        </p:txBody>
      </p:sp>
      <p:cxnSp>
        <p:nvCxnSpPr>
          <p:cNvPr id="62" name="Connector 61"/>
          <p:cNvCxnSpPr/>
          <p:nvPr/>
        </p:nvCxnSpPr>
        <p:spPr>
          <a:xfrm flipV="1">
            <a:off x="1325880" y="4046220"/>
            <a:ext cx="0" cy="8229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325880" y="4046220"/>
            <a:ext cx="2240280" cy="68580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566160" y="4091940"/>
            <a:ext cx="0" cy="64008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566160" y="3451860"/>
            <a:ext cx="0" cy="64008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566160" y="2766060"/>
            <a:ext cx="0" cy="68580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3566160" y="2766060"/>
            <a:ext cx="7863840" cy="388620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H="1" flipV="1">
            <a:off x="6035040" y="5509260"/>
            <a:ext cx="228600" cy="12801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035040" y="4457700"/>
            <a:ext cx="0" cy="105156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6035040" y="498348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8" b="1"/>
              <a:t>是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6035040" y="4457700"/>
            <a:ext cx="2103120" cy="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035040" y="5509260"/>
            <a:ext cx="0" cy="868680"/>
          </a:xfrm>
          <a:prstGeom prst="line">
            <a:avLst/>
          </a:prstGeom>
          <a:ln w="7315">
            <a:solidFill>
              <a:srgbClr val="4F4F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035040" y="594360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48" b="1"/>
              <a:t>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